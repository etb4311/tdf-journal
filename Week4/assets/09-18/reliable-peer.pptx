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7DA2F7"/>
                </a:solidFill>
                <a:latin typeface="Roboto"/>
              </a:rPr>
              <a:t>UC BERKELEY MDES  ·  MINI-ME: BUILDING SYSTEM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Roboto"/>
              </a:rPr>
              <a:t>Reliable Peer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12848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C7D2E0"/>
                </a:solidFill>
                <a:latin typeface="Roboto"/>
              </a:rPr>
              <a:t>An agent that helps you write the email you don't want to write.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54680"/>
            <a:ext cx="1005840" cy="15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401568"/>
            <a:ext cx="56692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 b="0" i="1">
                <a:solidFill>
                  <a:srgbClr val="E2E8F0"/>
                </a:solidFill>
                <a:latin typeface="Roboto"/>
              </a:rPr>
              <a:t>“I don't want an LLM to think for me; I want it to take my thoughts
and compartmentalize or augment them.”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7F8EA3"/>
                </a:solidFill>
                <a:latin typeface="Roboto"/>
              </a:rPr>
              <a:t>Journal, 09.03.26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4924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Roboto"/>
              </a:rPr>
              <a:t>Evan Bowman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7DA2F7"/>
                </a:solidFill>
                <a:latin typeface="Roboto"/>
              </a:rPr>
              <a:t>reliable-peer-ai-letter-writer.vercel.app</a:t>
            </a:r>
          </a:p>
        </p:txBody>
      </p:sp>
      <p:pic>
        <p:nvPicPr>
          <p:cNvPr id="9" name="Picture 8" descr="app-01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847088"/>
            <a:ext cx="475488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2563EB"/>
                </a:solidFill>
                <a:latin typeface="Roboto"/>
              </a:rPr>
              <a:t>DESIGN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Roboto"/>
              </a:rPr>
              <a:t>Start from a real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27648"/>
            <a:ext cx="5760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66751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1">
                <a:solidFill>
                  <a:srgbClr val="0F172A"/>
                </a:solidFill>
                <a:latin typeface="Roboto"/>
              </a:rPr>
              <a:t>Origin  </a:t>
            </a:r>
            <a:r>
              <a:rPr sz="1150">
                <a:solidFill>
                  <a:srgbClr val="334155"/>
                </a:solidFill>
                <a:latin typeface="Roboto"/>
              </a:rPr>
              <a:t>In class, Yuwen asked me how to email Hugh Dubberly about missing studio while seriously sick. Alex and Adin observed and took notes on how I actually answered.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1">
                <a:solidFill>
                  <a:srgbClr val="0F172A"/>
                </a:solidFill>
                <a:latin typeface="Roboto"/>
              </a:rPr>
              <a:t>The move  </a:t>
            </a:r>
            <a:r>
              <a:rPr sz="1150">
                <a:solidFill>
                  <a:srgbClr val="334155"/>
                </a:solidFill>
                <a:latin typeface="Roboto"/>
              </a:rPr>
              <a:t>Rather than invent a persona, we wrote a role card for behavior I had already performed — “Reliable Friend / The Know-It-All.”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b="1">
                <a:solidFill>
                  <a:srgbClr val="0F172A"/>
                </a:solidFill>
                <a:latin typeface="Roboto"/>
              </a:rPr>
              <a:t>Evaluation criterion  </a:t>
            </a:r>
            <a:r>
              <a:rPr sz="1150">
                <a:solidFill>
                  <a:srgbClr val="334155"/>
                </a:solidFill>
                <a:latin typeface="Roboto"/>
              </a:rPr>
              <a:t>“Would a friend be able to tell if it's you or an AI?” The target was my own voice, so I had ground truth to test against.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17720"/>
            <a:ext cx="6675120" cy="1481328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500"/>
              </a:spcAft>
            </a:pPr>
            <a:r>
              <a:rPr sz="950" b="1" i="0">
                <a:solidFill>
                  <a:srgbClr val="2563EB"/>
                </a:solidFill>
                <a:latin typeface="Roboto"/>
              </a:rPr>
              <a:t>DESIGN STANCE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Roboto"/>
              </a:rPr>
              <a:t>Augment, don't replace. A peer, not a therapist. Informational, not conversational — the agent organizes my thinking instead of substituting for it.</a:t>
            </a:r>
          </a:p>
        </p:txBody>
      </p:sp>
      <p:pic>
        <p:nvPicPr>
          <p:cNvPr id="8" name="Picture 7" descr="rolecard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627632"/>
            <a:ext cx="2621128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26679" y="587044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Roboto"/>
              </a:rPr>
              <a:t>In-class role card artifact  ·  09.08.26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2563EB"/>
                </a:solidFill>
                <a:latin typeface="Roboto"/>
              </a:rPr>
              <a:t>PROCESS  ·  SYSTEM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Roboto"/>
              </a:rPr>
              <a:t>A paper artifact becomes a spec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27648"/>
            <a:ext cx="5760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5532120" cy="75895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Roboto"/>
              </a:rPr>
              <a:t>PURPOSE</a:t>
            </a:r>
          </a:p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Roboto"/>
              </a:rPr>
              <a:t>Help classmates with school questions. Informational, not conversational.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78024"/>
            <a:ext cx="5532120" cy="75895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Roboto"/>
              </a:rPr>
              <a:t>INTERACTION LOOP</a:t>
            </a:r>
          </a:p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Roboto"/>
              </a:rPr>
              <a:t>4 stages: suggest → diagnose → clarify → offer alternative.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28416"/>
            <a:ext cx="5532120" cy="75895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Roboto"/>
              </a:rPr>
              <a:t>BEHAVIORAL RULES</a:t>
            </a:r>
          </a:p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Roboto"/>
              </a:rPr>
              <a:t>High-level, short, single paragraph, casual tone, first names in body.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78808"/>
            <a:ext cx="5532120" cy="75895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Roboto"/>
              </a:rPr>
              <a:t>DOES NOT DO</a:t>
            </a:r>
          </a:p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Roboto"/>
              </a:rPr>
              <a:t>No over-sympathizing, no fabrication, no follow-up questions, no detail dumps.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29200"/>
            <a:ext cx="5532120" cy="89611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Roboto"/>
              </a:rPr>
              <a:t>KNOWLEDGE BASE</a:t>
            </a:r>
          </a:p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Roboto"/>
              </a:rPr>
              <a:t>Hugh Dubberly (values directness, conceptual clarity); MDes program; Tang Center medical policy; Jacobs Hall studio culture.</a:t>
            </a:r>
          </a:p>
        </p:txBody>
      </p:sp>
      <p:pic>
        <p:nvPicPr>
          <p:cNvPr id="11" name="Picture 10" descr="app-03-rolec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83080"/>
            <a:ext cx="5074920" cy="3171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5074920"/>
            <a:ext cx="5074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Roboto"/>
              </a:rPr>
              <a:t>The nine-field role card ships inside the prototype as an inspectable specification, so a critic can read the rules that produced any given response.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2563EB"/>
                </a:solidFill>
                <a:latin typeface="Roboto"/>
              </a:rPr>
              <a:t>ITERATION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Roboto"/>
              </a:rPr>
              <a:t>Tuned against my own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27648"/>
            <a:ext cx="5760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49240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600"/>
              </a:spcAft>
            </a:pPr>
            <a:r>
              <a:rPr sz="950" b="1" i="0">
                <a:solidFill>
                  <a:srgbClr val="64748B"/>
                </a:solidFill>
                <a:latin typeface="Roboto"/>
              </a:rPr>
              <a:t>V1  ·  BASELINE</a:t>
            </a:r>
          </a:p>
          <a:p>
            <a:pPr>
              <a:lnSpc>
                <a:spcPct val="126000"/>
              </a:lnSpc>
              <a:spcAft>
                <a:spcPts val="800"/>
              </a:spcAft>
            </a:pPr>
            <a:r>
              <a:rPr sz="1100" b="0" i="0">
                <a:solidFill>
                  <a:srgbClr val="334155"/>
                </a:solidFill>
                <a:latin typeface="Roboto"/>
              </a:rPr>
              <a:t>Gemma 4 26B A4B  ·  temperature 0  ·  role card as system instructions  ·  no knowledge base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Roboto"/>
              </a:rPr>
              <a:t>Scored against my real replies: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50" b="0" i="0">
                <a:solidFill>
                  <a:srgbClr val="334155"/>
                </a:solidFill>
                <a:latin typeface="Roboto"/>
              </a:rPr>
              <a:t>Q1 Rough — too many follow-ups, too much sympathy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50" b="0" i="0">
                <a:solidFill>
                  <a:srgbClr val="334155"/>
                </a:solidFill>
                <a:latin typeface="Roboto"/>
              </a:rPr>
              <a:t>Q2 Rough — too diagnostic, offered no backup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50" b="0" i="0">
                <a:solidFill>
                  <a:srgbClr val="334155"/>
                </a:solidFill>
                <a:latin typeface="Roboto"/>
              </a:rPr>
              <a:t>Q3 Slight — right instinct, too granular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58768" y="1645920"/>
            <a:ext cx="5349240" cy="29718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600"/>
              </a:spcAft>
            </a:pPr>
            <a:r>
              <a:rPr sz="950" b="1" i="0">
                <a:solidFill>
                  <a:srgbClr val="059669"/>
                </a:solidFill>
                <a:latin typeface="Roboto"/>
              </a:rPr>
              <a:t>V2  ·  AFTER TUNING</a:t>
            </a:r>
          </a:p>
          <a:p>
            <a:pPr>
              <a:lnSpc>
                <a:spcPct val="126000"/>
              </a:lnSpc>
              <a:spcAft>
                <a:spcPts val="800"/>
              </a:spcAft>
            </a:pPr>
            <a:r>
              <a:rPr sz="1100" b="0" i="0">
                <a:solidFill>
                  <a:srgbClr val="334155"/>
                </a:solidFill>
                <a:latin typeface="Roboto"/>
              </a:rPr>
              <a:t>Five added rules  ·  stochastic raised to 2.0  ·  knowledge base attached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Roboto"/>
              </a:rPr>
              <a:t>Rules that changed the behavior: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50" b="0" i="0">
                <a:solidFill>
                  <a:srgbClr val="334155"/>
                </a:solidFill>
                <a:latin typeface="Roboto"/>
              </a:rPr>
              <a:t>Lead every reply with empathy, no first-name greeting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50" b="0" i="0">
                <a:solidFill>
                  <a:srgbClr val="334155"/>
                </a:solidFill>
                <a:latin typeface="Roboto"/>
              </a:rPr>
              <a:t>Phrase advice as “I would…” to sound human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50" b="0" i="0">
                <a:solidFill>
                  <a:srgbClr val="334155"/>
                </a:solidFill>
                <a:latin typeface="Roboto"/>
              </a:rPr>
              <a:t>Logistics only after acknowledgement; keep it brief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77456" y="1645920"/>
            <a:ext cx="4471416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600"/>
              </a:spcAft>
            </a:pPr>
            <a:r>
              <a:rPr sz="950" b="1" i="0">
                <a:solidFill>
                  <a:srgbClr val="B45309"/>
                </a:solidFill>
                <a:latin typeface="Roboto"/>
              </a:rPr>
              <a:t>WHAT THE ITERATION TAUGHT ME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150" b="1" i="0">
                <a:solidFill>
                  <a:srgbClr val="0F172A"/>
                </a:solidFill>
                <a:latin typeface="Roboto"/>
              </a:rPr>
              <a:t>More detailed prompting yields more detailed results — but rules also get over-interpreted.</a:t>
            </a:r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Roboto"/>
              </a:rPr>
              <a:t>Asked outright to “just write the message,” v2 still front-loaded empathy before drafting. The guardrail was working and overreaching at the same time, which is the part I could not have predicted from reading the role card alone.</a:t>
            </a:r>
          </a:p>
        </p:txBody>
      </p:sp>
      <p:pic>
        <p:nvPicPr>
          <p:cNvPr id="9" name="Picture 8" descr="ite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800600"/>
            <a:ext cx="5349240" cy="21855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4846320"/>
            <a:ext cx="537667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Roboto"/>
              </a:rPr>
              <a:t>Parameter sweeps in Agent Studio before the role card existed: same prompt, different models and temperatures, to learn which knobs actually move the voice.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2563EB"/>
                </a:solidFill>
                <a:latin typeface="Roboto"/>
              </a:rPr>
              <a:t>SYSTEM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Roboto"/>
              </a:rPr>
              <a:t>How a request becomes a letter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27648"/>
            <a:ext cx="5760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975104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500"/>
              </a:spcAft>
            </a:pPr>
            <a:r>
              <a:rPr sz="1150" b="1" i="0">
                <a:solidFill>
                  <a:srgbClr val="0F172A"/>
                </a:solidFill>
                <a:latin typeface="Roboto"/>
              </a:rPr>
              <a:t>Student inputs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Initial ask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Desired output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Symptoms / reason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Logistics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Tone (4 modes)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65476" y="2532887"/>
            <a:ext cx="219456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35224" y="1874519"/>
            <a:ext cx="1975104" cy="1572768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500"/>
              </a:spcAft>
            </a:pPr>
            <a:r>
              <a:rPr sz="1150" b="1" i="0">
                <a:solidFill>
                  <a:srgbClr val="0F172A"/>
                </a:solidFill>
                <a:latin typeface="Roboto"/>
              </a:rPr>
              <a:t>Role card spec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9-field system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instructions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+ knowledge base: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Dubberly, MDes,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Tang Center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60620" y="2532887"/>
            <a:ext cx="219456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30368" y="1874519"/>
            <a:ext cx="1975104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500"/>
              </a:spcAft>
            </a:pPr>
            <a:r>
              <a:rPr sz="1150" b="1" i="0">
                <a:solidFill>
                  <a:srgbClr val="0F172A"/>
                </a:solidFill>
                <a:latin typeface="Roboto"/>
              </a:rPr>
              <a:t>Express server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server.ts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/api endpoint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assembles prompt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+ role card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constraints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55764" y="2532887"/>
            <a:ext cx="219456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25512" y="1874519"/>
            <a:ext cx="1975104" cy="1572768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500"/>
              </a:spcAft>
            </a:pPr>
            <a:r>
              <a:rPr sz="1150" b="1" i="0">
                <a:solidFill>
                  <a:srgbClr val="0F172A"/>
                </a:solidFill>
                <a:latin typeface="Roboto"/>
              </a:rPr>
              <a:t>Gemini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@google/genai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structured output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per loop stage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550908" y="2532887"/>
            <a:ext cx="219456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20656" y="1874519"/>
            <a:ext cx="1975104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500"/>
              </a:spcAft>
            </a:pPr>
            <a:r>
              <a:rPr sz="1150" b="1" i="0">
                <a:solidFill>
                  <a:srgbClr val="0F172A"/>
                </a:solidFill>
                <a:latin typeface="Roboto"/>
              </a:rPr>
              <a:t>Output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Peer guidance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+ drafted letter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+ policy check</a:t>
            </a:r>
          </a:p>
          <a:p>
            <a:pPr>
              <a:lnSpc>
                <a:spcPct val="115000"/>
              </a:lnSpc>
              <a:spcAft>
                <a:spcPts val="15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+ one-click edits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30368" y="3977639"/>
            <a:ext cx="1975104" cy="105156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Roboto"/>
              </a:rPr>
              <a:t>Fallback advisor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Roboto"/>
              </a:rPr>
              <a:t>Rule-compliant generator runs when no API key is present — the guardrails hold offline.</a:t>
            </a:r>
          </a:p>
        </p:txBody>
      </p:sp>
      <p:sp>
        <p:nvSpPr>
          <p:cNvPr id="16" name="Up Arrow 15"/>
          <p:cNvSpPr/>
          <p:nvPr/>
        </p:nvSpPr>
        <p:spPr>
          <a:xfrm>
            <a:off x="6117336" y="3520440"/>
            <a:ext cx="201168" cy="402336"/>
          </a:xfrm>
          <a:prstGeom prst="upArrow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5285232"/>
            <a:ext cx="10908792" cy="868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2563EB"/>
                </a:solidFill>
                <a:latin typeface="Roboto"/>
              </a:rPr>
              <a:t>DEPLOYMENT PIPELINE</a:t>
            </a:r>
          </a:p>
          <a:p>
            <a:pPr>
              <a:lnSpc>
                <a:spcPct val="126000"/>
              </a:lnSpc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Roboto"/>
              </a:rPr>
              <a:t>AI Studio → GitHub (etb4311/Reliable-Peer-AI-Letter-Writer) → Vercel, free tier, with GEMINI_API_KEY set as an environment variable in the Vercel project. Verified loading in a signed-out browser.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2563EB"/>
                </a:solidFill>
                <a:latin typeface="Roboto"/>
              </a:rPr>
              <a:t>FINAL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Roboto"/>
              </a:rPr>
              <a:t>Live and deployed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27648"/>
            <a:ext cx="5760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10908792" cy="566928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Roboto"/>
              </a:rPr>
              <a:t>DEMO   reliable-peer-ai-letter-writer.vercel.app        REPO   github.com/etb4311/Reliable-Peer-AI-Letter-Writer</a:t>
            </a:r>
          </a:p>
        </p:txBody>
      </p:sp>
      <p:pic>
        <p:nvPicPr>
          <p:cNvPr id="7" name="Picture 6" descr="app-01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59152"/>
            <a:ext cx="5349240" cy="3343275"/>
          </a:xfrm>
          <a:prstGeom prst="rect">
            <a:avLst/>
          </a:prstGeom>
        </p:spPr>
      </p:pic>
      <p:pic>
        <p:nvPicPr>
          <p:cNvPr id="8" name="Picture 7" descr="app-02-let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359152"/>
            <a:ext cx="5349240" cy="33432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806440"/>
            <a:ext cx="109087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Roboto"/>
              </a:rPr>
              <a:t>Left: the four-stage interaction loop with live rule-compliance indicators.   Right: the drafted letter with one-click adjustments and a policy check.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Roboto"/>
              </a:rPr>
              <a:t>Five scenario presets  ·  four tone modes  ·  export to mail or .txt  ·  role card inspectable in-app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2563EB"/>
                </a:solidFill>
                <a:latin typeface="Roboto"/>
              </a:rPr>
              <a:t>OUTCOME &amp; REFLECTIONS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Roboto"/>
              </a:rPr>
              <a:t>It works, and it still sounds like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27648"/>
            <a:ext cx="5760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Roboto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32004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600"/>
              </a:spcAft>
            </a:pPr>
            <a:r>
              <a:rPr sz="950" b="1" i="0">
                <a:solidFill>
                  <a:srgbClr val="059669"/>
                </a:solidFill>
                <a:latin typeface="Roboto"/>
              </a:rPr>
              <a:t>DID IT WORK?</a:t>
            </a:r>
          </a:p>
          <a:p>
            <a:pPr>
              <a:lnSpc>
                <a:spcPct val="128000"/>
              </a:lnSpc>
              <a:spcAft>
                <a:spcPts val="800"/>
              </a:spcAft>
            </a:pPr>
            <a:r>
              <a:rPr sz="1100" b="0" i="0">
                <a:solidFill>
                  <a:srgbClr val="334155"/>
                </a:solidFill>
                <a:latin typeface="Roboto"/>
              </a:rPr>
              <a:t>Yes. Deployed on Vercel's free tier, loads for signed-out visitors, and behavior stayed consistent between AI Studio and production.</a:t>
            </a:r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Roboto"/>
              </a:rPr>
              <a:t>The role card translated cleanly into behavior, and the empathy-first rule is what made it read like a peer rather than a form letter.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645920"/>
            <a:ext cx="352044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600"/>
              </a:spcAft>
            </a:pPr>
            <a:r>
              <a:rPr sz="950" b="1" i="0">
                <a:solidFill>
                  <a:srgbClr val="B45309"/>
                </a:solidFill>
                <a:latin typeface="Roboto"/>
              </a:rPr>
              <a:t>WHAT BROKE</a:t>
            </a:r>
          </a:p>
          <a:p>
            <a:pPr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334155"/>
                </a:solidFill>
                <a:latin typeface="Roboto"/>
              </a:rPr>
              <a:t>Naming conventions drifted across AI Studio, GitHub, and Vercel — cost a republish.</a:t>
            </a:r>
          </a:p>
          <a:p>
            <a:pPr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334155"/>
                </a:solidFill>
                <a:latin typeface="Roboto"/>
              </a:rPr>
              <a:t>The model kept adding features that diluted the core concept.</a:t>
            </a:r>
          </a:p>
          <a:p>
            <a:pPr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334155"/>
                </a:solidFill>
                <a:latin typeface="Roboto"/>
              </a:rPr>
              <a:t>Behind the GUI I could not see the agent's reasoning, only its output.</a:t>
            </a:r>
          </a:p>
          <a:p>
            <a:pPr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334155"/>
                </a:solidFill>
                <a:latin typeface="Roboto"/>
              </a:rPr>
              <a:t>The result still feels pragmatic and impersonal next to a real friend.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1" y="1645920"/>
            <a:ext cx="352044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600"/>
              </a:spcAft>
            </a:pPr>
            <a:r>
              <a:rPr sz="950" b="1" i="0">
                <a:solidFill>
                  <a:srgbClr val="2563EB"/>
                </a:solidFill>
                <a:latin typeface="Roboto"/>
              </a:rPr>
              <a:t>WHAT I'D DO DIFFERENTLY</a:t>
            </a:r>
          </a:p>
          <a:p>
            <a:pPr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334155"/>
                </a:solidFill>
                <a:latin typeface="Roboto"/>
              </a:rPr>
              <a:t>Make the exchange conversational in-app instead of form-driven.</a:t>
            </a:r>
          </a:p>
          <a:p>
            <a:pPr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334155"/>
                </a:solidFill>
                <a:latin typeface="Roboto"/>
              </a:rPr>
              <a:t>Surface the agent's reasoning so the rules are visible while it works.</a:t>
            </a:r>
          </a:p>
          <a:p>
            <a:pPr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334155"/>
                </a:solidFill>
                <a:latin typeface="Roboto"/>
              </a:rPr>
              <a:t>Run the actual test: give it to a classmate and see whether they can tell it isn't me.</a:t>
            </a:r>
          </a:p>
          <a:p>
            <a:pPr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334155"/>
                </a:solidFill>
                <a:latin typeface="Roboto"/>
              </a:rPr>
              <a:t>Hold scope against the role card and refuse model-suggested additions.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74920"/>
            <a:ext cx="10908792" cy="100584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0584" bIns="73152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Roboto"/>
              </a:rPr>
              <a:t>WHO ARE WE ALLOWING TO DESIGN THE MODELS WE THINK WITH?</a:t>
            </a:r>
          </a:p>
          <a:p>
            <a:pPr>
              <a:lnSpc>
                <a:spcPct val="126000"/>
              </a:lnSpc>
              <a:spcAft>
                <a:spcPts val="0"/>
              </a:spcAft>
            </a:pPr>
            <a:r>
              <a:rPr sz="1100" b="0" i="0">
                <a:solidFill>
                  <a:srgbClr val="C7D2E0"/>
                </a:solidFill>
                <a:latin typeface="Roboto"/>
              </a:rPr>
              <a:t>Building an agent in my own voice made the question concrete: every rule I wrote narrowed how a version of me was allowed to speak.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